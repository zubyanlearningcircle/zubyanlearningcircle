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CACD-B833-C11E-58C7-B21CDD03A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A6357-2BB2-0DA3-4582-A327E7C99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96646-7DE2-F817-1072-D4DF645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367A3-0B52-511D-31BF-0C4030EE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F8A5F-217B-515F-B037-56EE6EBE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5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0F056-7107-318C-8A6C-2321FE7D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A52F6-0F49-519C-CDA4-A091F1745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49129-E76D-7CC4-9A55-4B24D6F6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ECAC9-8F31-DD6D-98F5-2E0ED614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414D5-000F-555A-CD2B-4BDF0B97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D2ED-17CB-1B27-BEEB-39CF0116B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877DA-C59D-642F-ED99-844D57B1D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9BFD7-524A-91BD-53F4-E5EE80FA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B6993-77F6-A94B-7FAF-94E2F292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BAF22-F678-CAD1-F756-DD0E70CFA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30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7047-20E9-35F4-7504-F372F5C9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D3BA5-766B-2271-8C78-49090557F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83623-6CCF-2C0C-AAE3-DDC36E25A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CE72F-615E-9C39-E6EE-A9860748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4C88F-A9A6-6577-6D33-D13C4509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9E205-1762-E179-4DAC-344F81CB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03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AF4C7-35C2-A0F3-7AB7-DB5DC339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DC535-5E3A-BB02-CA2A-14582288D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57065-231B-0BB6-BD70-EFD22B3CD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2195E-DE30-FC88-01B7-3756675A5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A2FA80-1F28-DE01-6131-0B353F924A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C137C5-DFDB-0D7F-D174-0D94DB8DE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870E2-FB74-4D4A-05F7-137B5C945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82EDE-153D-0B40-4AD3-1E897C81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07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DFEC9-ABC9-F0AD-9D4F-C8FE5CD3D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50DEA-0488-D926-E67F-7873A92C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74835-9D6A-C6F7-1185-41156AA2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72BE9-7F48-A6D3-C44F-F152F19E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9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5F3D8-448D-CA95-FA08-840C6371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5031C-0159-09C6-254D-BBDC2BC0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A089D-8F45-D707-69A1-82AEBBED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3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D419-0147-A592-C7B2-247B981AC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67325-610D-65A8-8727-C44FF53D1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7A77E-96B4-399F-BB3F-B376680BE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E6468-3235-451B-25D0-8A8FD98E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3BCD8-C3C2-80CE-A2EF-0CD00253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5144A-C369-D7EF-2BBB-C28B74F5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5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EEDF5-83A4-0F1C-53A5-3F846953B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5F56C4-8DED-C539-286D-9A4AB4A67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0A547-FBE5-5510-D47E-452CA0DCF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4F0AB-2F74-D687-BF16-F527C0298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96EEF-26D1-E62C-22C6-6C771640E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53751-E8CF-3228-59D3-2016570B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3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71A9-346D-3FB8-4776-CA22C574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0950F-C6E6-D276-E4D4-E396CA13A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F72BD-62B1-FBF8-8FDD-4638E3199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D795F-A055-0839-0F54-B40AB2402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F6FCD-05E8-7F89-27A6-718A5871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32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7DA13E-2545-AA6B-C24E-37E258A95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3CEAB-BAF7-2762-77EC-73B8ACFD4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4DD8B-8100-8517-1136-67647DDAE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120D5-8344-D00B-DFF4-F9BDFA5B1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40B91-A71E-C49E-F8BC-96D4AA576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7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6020B-83A6-1E57-F862-C6DFC0B6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EE510-87E0-FC10-4768-AF06542C6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64E0F-5B00-B03D-8F05-BAB028DC5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7B19F-3752-444F-81B9-337496C83B9C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CFECE-A348-E9C2-0AC0-CCBB49A17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F1DD1-ED54-43FB-4F20-DDA85794E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136DA-5030-7647-840E-40838178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6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82B4-BE5C-2566-2D37-67D433104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9600" dirty="0" err="1"/>
              <a:t>إن</a:t>
            </a:r>
            <a:r>
              <a:rPr lang="en-IN" sz="9600" dirty="0"/>
              <a:t> و </a:t>
            </a:r>
            <a:r>
              <a:rPr lang="en-IN" sz="9600" dirty="0" err="1"/>
              <a:t>أخواتها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2818F-503E-2977-B63E-A25074259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IN" sz="9600" dirty="0"/>
              <a:t>(</a:t>
            </a:r>
            <a:r>
              <a:rPr lang="en-IN" sz="9600" dirty="0" err="1"/>
              <a:t>الحروف</a:t>
            </a:r>
            <a:r>
              <a:rPr lang="en-IN" sz="9600" dirty="0"/>
              <a:t> </a:t>
            </a:r>
            <a:r>
              <a:rPr lang="en-IN" sz="9600" dirty="0" err="1"/>
              <a:t>المشبه</a:t>
            </a:r>
            <a:r>
              <a:rPr lang="en-IN" sz="9600" dirty="0"/>
              <a:t> </a:t>
            </a:r>
            <a:r>
              <a:rPr lang="en-IN" sz="9600" dirty="0" err="1"/>
              <a:t>بالفعل</a:t>
            </a:r>
            <a:r>
              <a:rPr lang="en-IN" sz="9600" dirty="0"/>
              <a:t>)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102650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F63EC-6855-DCDD-83A8-210312575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rtl="1"/>
            <a:r>
              <a:rPr lang="en-IN" sz="9600" b="1" dirty="0" err="1">
                <a:solidFill>
                  <a:schemeClr val="accent6"/>
                </a:solidFill>
              </a:rPr>
              <a:t>أخوات</a:t>
            </a:r>
            <a:r>
              <a:rPr lang="en-IN" sz="9600" b="1" dirty="0">
                <a:solidFill>
                  <a:schemeClr val="accent6"/>
                </a:solidFill>
              </a:rPr>
              <a:t> </a:t>
            </a:r>
            <a:r>
              <a:rPr lang="en-IN" sz="9600" b="1" dirty="0" err="1">
                <a:solidFill>
                  <a:schemeClr val="accent6"/>
                </a:solidFill>
              </a:rPr>
              <a:t>إن</a:t>
            </a:r>
            <a:endParaRPr lang="en-US" sz="9600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B78EF-74D3-18F2-6655-B8CB45982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IN" sz="5400" dirty="0" err="1"/>
              <a:t>سندرس</a:t>
            </a:r>
            <a:r>
              <a:rPr lang="en-IN" sz="5400" dirty="0"/>
              <a:t> </a:t>
            </a:r>
            <a:r>
              <a:rPr lang="en-IN" sz="5400" dirty="0" err="1"/>
              <a:t>في</a:t>
            </a:r>
            <a:r>
              <a:rPr lang="en-IN" sz="5400" dirty="0"/>
              <a:t> </a:t>
            </a:r>
            <a:r>
              <a:rPr lang="en-IN" sz="5400" dirty="0" err="1"/>
              <a:t>هذا</a:t>
            </a:r>
            <a:r>
              <a:rPr lang="en-IN" sz="5400" dirty="0"/>
              <a:t> </a:t>
            </a:r>
            <a:r>
              <a:rPr lang="en-IN" sz="5400" dirty="0" err="1"/>
              <a:t>الدرس</a:t>
            </a:r>
            <a:r>
              <a:rPr lang="en-IN" sz="5400" dirty="0"/>
              <a:t> “</a:t>
            </a:r>
            <a:r>
              <a:rPr lang="en-IN" sz="5400" dirty="0" err="1"/>
              <a:t>إن</a:t>
            </a:r>
            <a:r>
              <a:rPr lang="en-IN" sz="5400" dirty="0"/>
              <a:t> و </a:t>
            </a:r>
            <a:r>
              <a:rPr lang="en-IN" sz="5400" dirty="0" err="1"/>
              <a:t>أخواتها</a:t>
            </a:r>
            <a:r>
              <a:rPr lang="en-IN" sz="5400" dirty="0"/>
              <a:t>” </a:t>
            </a:r>
            <a:r>
              <a:rPr lang="en-IN" sz="5400" dirty="0" err="1"/>
              <a:t>فلإن</a:t>
            </a:r>
            <a:r>
              <a:rPr lang="en-IN" sz="5400" dirty="0"/>
              <a:t>  </a:t>
            </a:r>
            <a:r>
              <a:rPr lang="en-IN" sz="5400" dirty="0" err="1"/>
              <a:t>خمس</a:t>
            </a:r>
            <a:r>
              <a:rPr lang="en-IN" sz="5400" dirty="0"/>
              <a:t> </a:t>
            </a:r>
            <a:r>
              <a:rPr lang="en-IN" sz="5400" dirty="0" err="1"/>
              <a:t>أخوات</a:t>
            </a:r>
            <a:r>
              <a:rPr lang="en-IN" sz="5400" dirty="0"/>
              <a:t>، و </a:t>
            </a:r>
            <a:r>
              <a:rPr lang="en-IN" sz="5400" dirty="0" err="1"/>
              <a:t>هن</a:t>
            </a:r>
            <a:endParaRPr lang="en-IN" sz="5400" dirty="0"/>
          </a:p>
          <a:p>
            <a:pPr marL="0" indent="0" algn="ctr">
              <a:buNone/>
            </a:pPr>
            <a:r>
              <a:rPr lang="en-IN" sz="5400" dirty="0"/>
              <a:t> </a:t>
            </a:r>
            <a:r>
              <a:rPr lang="en-IN" sz="5400" dirty="0" err="1"/>
              <a:t>أن</a:t>
            </a:r>
            <a:r>
              <a:rPr lang="en-IN" sz="5400" dirty="0"/>
              <a:t> ،و </a:t>
            </a:r>
            <a:r>
              <a:rPr lang="en-IN" sz="5400" dirty="0" err="1"/>
              <a:t>كأنّ</a:t>
            </a:r>
            <a:r>
              <a:rPr lang="en-IN" sz="5400" dirty="0"/>
              <a:t>، و </a:t>
            </a:r>
            <a:r>
              <a:rPr lang="en-IN" sz="5400" dirty="0" err="1"/>
              <a:t>لَكنّ</a:t>
            </a:r>
            <a:r>
              <a:rPr lang="en-IN" sz="5400" dirty="0"/>
              <a:t>، و </a:t>
            </a:r>
            <a:r>
              <a:rPr lang="en-IN" sz="5400" dirty="0" err="1"/>
              <a:t>ليت</a:t>
            </a:r>
            <a:r>
              <a:rPr lang="en-IN" sz="5400" dirty="0"/>
              <a:t>، و </a:t>
            </a:r>
            <a:r>
              <a:rPr lang="en-IN" sz="5400" dirty="0" err="1"/>
              <a:t>لعل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52764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5726-54EC-069A-DEE4-044AE6E2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IN" dirty="0" err="1">
                <a:solidFill>
                  <a:schemeClr val="accent6"/>
                </a:solidFill>
              </a:rPr>
              <a:t>القواعد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0F49DD-3F4A-D935-FDCB-F33604D36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sz="4800" dirty="0" err="1"/>
              <a:t>إن</a:t>
            </a:r>
            <a:r>
              <a:rPr lang="en-IN" sz="4800" dirty="0"/>
              <a:t> ، </a:t>
            </a:r>
            <a:r>
              <a:rPr lang="en-IN" sz="4800" dirty="0" err="1"/>
              <a:t>وأن</a:t>
            </a:r>
            <a:r>
              <a:rPr lang="en-IN" sz="4800" dirty="0"/>
              <a:t> ، </a:t>
            </a:r>
            <a:r>
              <a:rPr lang="en-IN" sz="4800" dirty="0" err="1"/>
              <a:t>وكأن</a:t>
            </a:r>
            <a:r>
              <a:rPr lang="en-IN" sz="4800" dirty="0"/>
              <a:t> ، </a:t>
            </a:r>
            <a:r>
              <a:rPr lang="en-IN" sz="4800" dirty="0" err="1"/>
              <a:t>ولكن</a:t>
            </a:r>
            <a:r>
              <a:rPr lang="en-IN" sz="4800" dirty="0"/>
              <a:t> ، </a:t>
            </a:r>
            <a:r>
              <a:rPr lang="en-IN" sz="4800" dirty="0" err="1"/>
              <a:t>وليت</a:t>
            </a:r>
            <a:r>
              <a:rPr lang="en-IN" sz="4800" dirty="0"/>
              <a:t> ، </a:t>
            </a:r>
            <a:r>
              <a:rPr lang="en-IN" sz="4800" dirty="0" err="1"/>
              <a:t>ولعل</a:t>
            </a:r>
            <a:r>
              <a:rPr lang="en-IN" sz="4800" dirty="0"/>
              <a:t> </a:t>
            </a:r>
            <a:r>
              <a:rPr lang="en-IN" sz="4800" dirty="0" err="1"/>
              <a:t>تدخل</a:t>
            </a:r>
            <a:r>
              <a:rPr lang="en-IN" sz="4800" dirty="0"/>
              <a:t> </a:t>
            </a:r>
            <a:r>
              <a:rPr lang="en-IN" sz="4800" dirty="0" err="1"/>
              <a:t>على</a:t>
            </a:r>
            <a:r>
              <a:rPr lang="en-IN" sz="4800" dirty="0"/>
              <a:t> </a:t>
            </a:r>
            <a:r>
              <a:rPr lang="en-IN" sz="4800" dirty="0" err="1"/>
              <a:t>المبتدأ</a:t>
            </a:r>
            <a:r>
              <a:rPr lang="en-IN" sz="4800" dirty="0"/>
              <a:t> </a:t>
            </a:r>
            <a:r>
              <a:rPr lang="en-IN" sz="4800" dirty="0" err="1"/>
              <a:t>والخبر</a:t>
            </a:r>
            <a:r>
              <a:rPr lang="en-IN" sz="4800" dirty="0"/>
              <a:t> ، </a:t>
            </a:r>
            <a:r>
              <a:rPr lang="en-IN" sz="4800" dirty="0" err="1"/>
              <a:t>فتَنْصٕب</a:t>
            </a:r>
            <a:r>
              <a:rPr lang="en-IN" sz="4800" dirty="0"/>
              <a:t> </a:t>
            </a:r>
            <a:r>
              <a:rPr lang="en-IN" sz="4800" dirty="0" err="1"/>
              <a:t>المبتدأ</a:t>
            </a:r>
            <a:r>
              <a:rPr lang="en-IN" sz="4800" dirty="0"/>
              <a:t> </a:t>
            </a:r>
            <a:r>
              <a:rPr lang="en-IN" sz="4800" dirty="0" err="1"/>
              <a:t>ويسمى</a:t>
            </a:r>
            <a:r>
              <a:rPr lang="en-IN" sz="4800" dirty="0"/>
              <a:t> </a:t>
            </a:r>
            <a:r>
              <a:rPr lang="en-IN" sz="4800" dirty="0" err="1"/>
              <a:t>اسمها</a:t>
            </a:r>
            <a:r>
              <a:rPr lang="en-IN" sz="4800" dirty="0"/>
              <a:t> ، </a:t>
            </a:r>
            <a:r>
              <a:rPr lang="en-IN" sz="4800" dirty="0" err="1"/>
              <a:t>وترفع</a:t>
            </a:r>
            <a:r>
              <a:rPr lang="en-IN" sz="4800" dirty="0"/>
              <a:t> </a:t>
            </a:r>
            <a:r>
              <a:rPr lang="en-IN" sz="4800" dirty="0" err="1"/>
              <a:t>الخبر</a:t>
            </a:r>
            <a:r>
              <a:rPr lang="en-IN" sz="4800" dirty="0"/>
              <a:t> </a:t>
            </a:r>
            <a:r>
              <a:rPr lang="en-IN" sz="4800" dirty="0" err="1"/>
              <a:t>ويسمى</a:t>
            </a:r>
            <a:r>
              <a:rPr lang="en-IN" sz="4800" dirty="0"/>
              <a:t> </a:t>
            </a:r>
            <a:r>
              <a:rPr lang="en-IN" sz="4800" dirty="0" err="1"/>
              <a:t>خبرها</a:t>
            </a:r>
            <a:endParaRPr lang="en-IN" sz="4800" dirty="0"/>
          </a:p>
          <a:p>
            <a:pPr marL="0" indent="0" algn="ctr">
              <a:buNone/>
            </a:pPr>
            <a:r>
              <a:rPr lang="en-IN" sz="4800" dirty="0" err="1"/>
              <a:t>بعد</a:t>
            </a:r>
            <a:r>
              <a:rPr lang="en-IN" sz="4800" dirty="0"/>
              <a:t> </a:t>
            </a:r>
            <a:r>
              <a:rPr lang="en-IN" sz="4800" dirty="0" err="1"/>
              <a:t>قال</a:t>
            </a:r>
            <a:r>
              <a:rPr lang="en-IN" sz="4800" dirty="0"/>
              <a:t> </a:t>
            </a:r>
            <a:r>
              <a:rPr lang="en-IN" sz="4800" dirty="0" err="1"/>
              <a:t>لا</a:t>
            </a:r>
            <a:r>
              <a:rPr lang="en-IN" sz="4800" dirty="0"/>
              <a:t> </a:t>
            </a:r>
            <a:r>
              <a:rPr lang="en-IN" sz="4800" dirty="0" err="1"/>
              <a:t>تستخدم</a:t>
            </a:r>
            <a:r>
              <a:rPr lang="en-IN" sz="4800" dirty="0"/>
              <a:t> '</a:t>
            </a:r>
            <a:r>
              <a:rPr lang="en-IN" sz="4800" dirty="0" err="1"/>
              <a:t>أن</a:t>
            </a:r>
            <a:r>
              <a:rPr lang="en-IN" sz="4800" dirty="0"/>
              <a:t>’ </a:t>
            </a:r>
            <a:r>
              <a:rPr lang="en-IN" sz="4800" dirty="0" err="1"/>
              <a:t>ولكن</a:t>
            </a:r>
            <a:r>
              <a:rPr lang="en-IN" sz="4800" dirty="0"/>
              <a:t> </a:t>
            </a:r>
            <a:r>
              <a:rPr lang="en-IN" sz="4800" dirty="0" err="1"/>
              <a:t>تستخدم</a:t>
            </a:r>
            <a:r>
              <a:rPr lang="en-IN" sz="4800" dirty="0"/>
              <a:t> </a:t>
            </a:r>
            <a:r>
              <a:rPr lang="en-IN" sz="4800" dirty="0" err="1"/>
              <a:t>إنّ</a:t>
            </a:r>
            <a:r>
              <a:rPr lang="en-IN" sz="4800" dirty="0"/>
              <a:t>’ </a:t>
            </a:r>
            <a:r>
              <a:rPr lang="en-IN" sz="4800" dirty="0" err="1"/>
              <a:t>في</a:t>
            </a:r>
            <a:r>
              <a:rPr lang="en-IN" sz="4800" dirty="0"/>
              <a:t> </a:t>
            </a:r>
            <a:r>
              <a:rPr lang="en-IN" sz="4800" dirty="0" err="1"/>
              <a:t>مكانها</a:t>
            </a:r>
            <a:r>
              <a:rPr lang="en-IN" sz="4800" dirty="0"/>
              <a:t> </a:t>
            </a:r>
            <a:r>
              <a:rPr lang="en-IN" sz="4800" dirty="0" err="1"/>
              <a:t>كفي</a:t>
            </a:r>
            <a:r>
              <a:rPr lang="en-IN" sz="4800" dirty="0"/>
              <a:t> </a:t>
            </a:r>
            <a:r>
              <a:rPr lang="en-IN" sz="4800" dirty="0" err="1"/>
              <a:t>المثال</a:t>
            </a:r>
            <a:r>
              <a:rPr lang="en-IN" sz="4800" dirty="0"/>
              <a:t> “ </a:t>
            </a:r>
            <a:r>
              <a:rPr lang="en-IN" sz="4800" dirty="0" err="1"/>
              <a:t>قال</a:t>
            </a:r>
            <a:r>
              <a:rPr lang="en-IN" sz="4800" dirty="0"/>
              <a:t> </a:t>
            </a:r>
            <a:r>
              <a:rPr lang="en-IN" sz="4800" dirty="0" err="1"/>
              <a:t>لي</a:t>
            </a:r>
            <a:r>
              <a:rPr lang="en-IN" sz="4800" dirty="0"/>
              <a:t> </a:t>
            </a:r>
            <a:r>
              <a:rPr lang="en-IN" sz="4800" dirty="0" err="1"/>
              <a:t>زيد</a:t>
            </a:r>
            <a:r>
              <a:rPr lang="en-IN" sz="4800" dirty="0"/>
              <a:t> </a:t>
            </a:r>
            <a:r>
              <a:rPr lang="en-IN" sz="4800" dirty="0" err="1"/>
              <a:t>إنه</a:t>
            </a:r>
            <a:r>
              <a:rPr lang="en-IN" sz="4800" dirty="0"/>
              <a:t> </a:t>
            </a:r>
            <a:r>
              <a:rPr lang="en-IN" sz="4800" dirty="0" err="1"/>
              <a:t>يحضر</a:t>
            </a:r>
            <a:r>
              <a:rPr lang="en-IN" sz="4800" dirty="0"/>
              <a:t>”</a:t>
            </a:r>
          </a:p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159542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F1339-1340-DC0B-A432-FA637576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sz="8800" dirty="0" err="1">
                <a:solidFill>
                  <a:schemeClr val="accent6"/>
                </a:solidFill>
              </a:rPr>
              <a:t>الأمثلة</a:t>
            </a:r>
            <a:endParaRPr lang="en-US" sz="8800" dirty="0">
              <a:solidFill>
                <a:schemeClr val="accent6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66723F9-3483-51DD-9252-8F0EBAC5B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372" y="1690689"/>
            <a:ext cx="5518981" cy="4802186"/>
          </a:xfrm>
        </p:spPr>
      </p:pic>
    </p:spTree>
    <p:extLst>
      <p:ext uri="{BB962C8B-B14F-4D97-AF65-F5344CB8AC3E}">
        <p14:creationId xmlns:p14="http://schemas.microsoft.com/office/powerpoint/2010/main" val="106640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1E6C-9E03-E0A2-A2F2-5275A26A3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8000" dirty="0" err="1">
                <a:solidFill>
                  <a:schemeClr val="accent6"/>
                </a:solidFill>
              </a:rPr>
              <a:t>البحث</a:t>
            </a:r>
            <a:endParaRPr lang="en-US" sz="8000" dirty="0">
              <a:solidFill>
                <a:schemeClr val="accent6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99D70A-183B-3DAB-516E-AF1ADAA4C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IN" dirty="0"/>
              <a:t>           </a:t>
            </a:r>
            <a:r>
              <a:rPr lang="en-IN" dirty="0" err="1"/>
              <a:t>زيدٌ</a:t>
            </a:r>
            <a:r>
              <a:rPr lang="en-IN" dirty="0"/>
              <a:t> </a:t>
            </a:r>
            <a:r>
              <a:rPr lang="en-IN" dirty="0" err="1"/>
              <a:t>مجتهدٌ</a:t>
            </a:r>
            <a:r>
              <a:rPr lang="en-IN" dirty="0"/>
              <a:t>،                                                                          </a:t>
            </a:r>
            <a:r>
              <a:rPr lang="en-IN" dirty="0" err="1"/>
              <a:t>إنّ</a:t>
            </a:r>
            <a:r>
              <a:rPr lang="en-IN" dirty="0"/>
              <a:t> </a:t>
            </a:r>
            <a:r>
              <a:rPr lang="en-IN" dirty="0" err="1"/>
              <a:t>زيداً</a:t>
            </a:r>
            <a:r>
              <a:rPr lang="en-IN" dirty="0"/>
              <a:t> </a:t>
            </a:r>
            <a:r>
              <a:rPr lang="en-IN" dirty="0" err="1"/>
              <a:t>مجتهدٌ</a:t>
            </a:r>
            <a:r>
              <a:rPr lang="en-IN" dirty="0"/>
              <a:t>                </a:t>
            </a:r>
            <a:endParaRPr lang="en-US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A1253689-A4A2-4F07-B8EB-81275E895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888" y="2721069"/>
            <a:ext cx="10332502" cy="293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24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C9ED-AE40-FFB6-4528-725DB8CF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solidFill>
                  <a:schemeClr val="accent6"/>
                </a:solidFill>
              </a:rPr>
              <a:t>معانى</a:t>
            </a:r>
            <a:r>
              <a:rPr lang="en-IN" dirty="0">
                <a:solidFill>
                  <a:schemeClr val="accent6"/>
                </a:solidFill>
              </a:rPr>
              <a:t> </a:t>
            </a:r>
            <a:r>
              <a:rPr lang="en-IN" dirty="0" err="1">
                <a:solidFill>
                  <a:schemeClr val="accent6"/>
                </a:solidFill>
              </a:rPr>
              <a:t>هذه</a:t>
            </a:r>
            <a:r>
              <a:rPr lang="en-IN" dirty="0">
                <a:solidFill>
                  <a:schemeClr val="accent6"/>
                </a:solidFill>
              </a:rPr>
              <a:t> </a:t>
            </a:r>
            <a:r>
              <a:rPr lang="en-IN" dirty="0" err="1">
                <a:solidFill>
                  <a:schemeClr val="accent6"/>
                </a:solidFill>
              </a:rPr>
              <a:t>الأحرف</a:t>
            </a:r>
            <a:r>
              <a:rPr lang="en-IN" dirty="0">
                <a:solidFill>
                  <a:schemeClr val="accent6"/>
                </a:solidFill>
              </a:rPr>
              <a:t> </a:t>
            </a:r>
            <a:r>
              <a:rPr lang="en-IN" dirty="0" err="1">
                <a:solidFill>
                  <a:schemeClr val="accent6"/>
                </a:solidFill>
              </a:rPr>
              <a:t>الستة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7C5D3F-54F0-87C1-FEF2-BA3775696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Low" rtl="1">
              <a:buNone/>
            </a:pPr>
            <a:r>
              <a:rPr lang="ar-S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وإذا تدبرت معاني هذه الأحرف الستة في أمثلتها وجدت ( </a:t>
            </a:r>
            <a:r>
              <a:rPr lang="ar-SA" sz="4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إن</a:t>
            </a:r>
            <a:r>
              <a:rPr lang="ar-S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ar-SA" sz="4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وأن</a:t>
            </a:r>
            <a:r>
              <a:rPr lang="ar-S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) تفيدان توكيد ثبـوت الخبـر </a:t>
            </a:r>
            <a:r>
              <a:rPr lang="ar-SA" sz="4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للمبتدا</a:t>
            </a:r>
            <a:r>
              <a:rPr lang="ar-S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ar-SA" sz="4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و"</a:t>
            </a:r>
            <a:r>
              <a:rPr lang="ar-SA" sz="40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كأن</a:t>
            </a:r>
            <a:r>
              <a:rPr lang="ar-S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" تفيد تشبيه </a:t>
            </a:r>
            <a:r>
              <a:rPr lang="ar-SA" sz="4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المبتدا</a:t>
            </a:r>
            <a:r>
              <a:rPr lang="ar-S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بالخبر </a:t>
            </a:r>
            <a:r>
              <a:rPr lang="ar-SA" sz="4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و"</a:t>
            </a:r>
            <a:r>
              <a:rPr lang="ar-SA" sz="40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لَكن</a:t>
            </a:r>
            <a:r>
              <a:rPr lang="ar-S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" </a:t>
            </a:r>
            <a:r>
              <a:rPr lang="ar-SA" sz="4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تاتي</a:t>
            </a:r>
            <a:r>
              <a:rPr lang="ar-S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للاستدراك وهو منع السامع من فهم شيء غير مقصود </a:t>
            </a:r>
            <a:r>
              <a:rPr lang="ar-SA" sz="4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و"</a:t>
            </a:r>
            <a:r>
              <a:rPr lang="ar-SA" sz="40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ليت</a:t>
            </a:r>
            <a:r>
              <a:rPr lang="ar-S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" تدل على تمني حصول الخبر و "</a:t>
            </a:r>
            <a:r>
              <a:rPr lang="ar-SA" sz="4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لعل</a:t>
            </a:r>
            <a:r>
              <a:rPr lang="ar-S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" تدل على رجاء وقوعه والتمني يكون عادة </a:t>
            </a:r>
            <a:r>
              <a:rPr lang="ar-SA" sz="4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لامر</a:t>
            </a:r>
            <a:r>
              <a:rPr lang="ar-S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بعيد الحصول اما الرجاء فيكون عادة في الامور القريبة الوقوع.</a:t>
            </a:r>
            <a:endParaRPr lang="en-IN" sz="4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 rt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156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5DCE0-EAF2-FA55-6880-5BEED4CE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 err="1">
                <a:solidFill>
                  <a:schemeClr val="accent6"/>
                </a:solidFill>
              </a:rPr>
              <a:t>اِخْتِتَام</a:t>
            </a:r>
            <a:endParaRPr lang="en-US" sz="5400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26006-9D5C-0145-989E-A214B29B7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sz="6600" dirty="0" err="1"/>
              <a:t>شكرا</a:t>
            </a:r>
            <a:r>
              <a:rPr lang="en-IN" sz="6600" dirty="0"/>
              <a:t> </a:t>
            </a:r>
            <a:r>
              <a:rPr lang="en-IN" sz="6600" dirty="0" err="1"/>
              <a:t>لحسن</a:t>
            </a:r>
            <a:r>
              <a:rPr lang="en-IN" sz="6600" dirty="0"/>
              <a:t> </a:t>
            </a:r>
            <a:r>
              <a:rPr lang="en-IN" sz="6600" dirty="0" err="1"/>
              <a:t>إستماعكم</a:t>
            </a:r>
            <a:endParaRPr lang="en-IN" sz="6600" dirty="0"/>
          </a:p>
          <a:p>
            <a:pPr marL="0" indent="0" algn="ctr">
              <a:buNone/>
            </a:pPr>
            <a:r>
              <a:rPr lang="en-IN" sz="6600" dirty="0" err="1"/>
              <a:t>الى</a:t>
            </a:r>
            <a:r>
              <a:rPr lang="en-IN" sz="6600" dirty="0"/>
              <a:t> </a:t>
            </a:r>
            <a:r>
              <a:rPr lang="en-IN" sz="6600" dirty="0" err="1"/>
              <a:t>اللقاء</a:t>
            </a:r>
            <a:r>
              <a:rPr lang="en-IN" sz="6600" dirty="0"/>
              <a:t>  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457330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إن و أخواتها </vt:lpstr>
      <vt:lpstr>أخوات إن</vt:lpstr>
      <vt:lpstr>القواعد</vt:lpstr>
      <vt:lpstr>الأمثلة</vt:lpstr>
      <vt:lpstr>البحث</vt:lpstr>
      <vt:lpstr>معانى هذه الأحرف الستة </vt:lpstr>
      <vt:lpstr>اِخْتِتَام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إن و أخواتها </dc:title>
  <dc:creator>Jafar Husain</dc:creator>
  <cp:lastModifiedBy>Jafar Husain</cp:lastModifiedBy>
  <cp:revision>8</cp:revision>
  <dcterms:created xsi:type="dcterms:W3CDTF">2022-09-14T18:02:19Z</dcterms:created>
  <dcterms:modified xsi:type="dcterms:W3CDTF">2022-09-15T08:44:37Z</dcterms:modified>
</cp:coreProperties>
</file>